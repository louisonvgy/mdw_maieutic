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6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Pipeline de Clustering Sémantique des Thèses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F4F5"/>
                </a:solidFill>
              </a:rPr>
              <a:t>paraphrase-multilingual-MiniLM-L12-v2  ·  UMAP  ·  HDBSCAN  ·  TF-IDF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115568"/>
            <a:ext cx="192024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📄 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3898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9 246 titres de thèses (FR + EN)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4831" y="1435608"/>
            <a:ext cx="310897" cy="0"/>
          </a:xfrm>
          <a:prstGeom prst="line">
            <a:avLst/>
          </a:prstGeom>
          <a:ln w="25400">
            <a:solidFill>
              <a:srgbClr val="016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59736" y="1152144"/>
            <a:ext cx="2331720" cy="1965960"/>
          </a:xfrm>
          <a:prstGeom prst="rect">
            <a:avLst/>
          </a:prstGeom>
          <a:solidFill>
            <a:srgbClr val="CC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115568"/>
            <a:ext cx="2331720" cy="1965960"/>
          </a:xfrm>
          <a:prstGeom prst="rect">
            <a:avLst/>
          </a:prstGeom>
          <a:solidFill>
            <a:srgbClr val="E6F4F5"/>
          </a:solidFill>
          <a:ln w="15240">
            <a:solidFill>
              <a:srgbClr val="01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1115568"/>
            <a:ext cx="2331720" cy="329184"/>
          </a:xfrm>
          <a:prstGeom prst="rect">
            <a:avLst/>
          </a:prstGeom>
          <a:solidFill>
            <a:srgbClr val="016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1143000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①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1499616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sentence-transformers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1746504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paraphrase-multilingual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1993391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MiniLM-L12-v2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240279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48716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→ 384 valeurs flottantes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2734056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→ multilingue (50+ langues)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2980944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→ fine-tuné paraphrases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2788920"/>
            <a:ext cx="2221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normalize_embeddings=True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2926080"/>
            <a:ext cx="1234440" cy="256032"/>
          </a:xfrm>
          <a:prstGeom prst="rect">
            <a:avLst/>
          </a:prstGeom>
          <a:solidFill>
            <a:srgbClr val="016D76"/>
          </a:solidFill>
          <a:ln>
            <a:solidFill>
              <a:srgbClr val="01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94436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(9 246 × 384)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54880" y="1435608"/>
            <a:ext cx="310896" cy="0"/>
          </a:xfrm>
          <a:prstGeom prst="line">
            <a:avLst/>
          </a:prstGeom>
          <a:ln w="25400">
            <a:solidFill>
              <a:srgbClr val="016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129784" y="1152144"/>
            <a:ext cx="2331720" cy="1965960"/>
          </a:xfrm>
          <a:prstGeom prst="rect">
            <a:avLst/>
          </a:prstGeom>
          <a:solidFill>
            <a:srgbClr val="CC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3208" y="1115568"/>
            <a:ext cx="2331720" cy="1965960"/>
          </a:xfrm>
          <a:prstGeom prst="rect">
            <a:avLst/>
          </a:prstGeom>
          <a:solidFill>
            <a:srgbClr val="E6F4F5"/>
          </a:solidFill>
          <a:ln w="15240">
            <a:solidFill>
              <a:srgbClr val="01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93208" y="1115568"/>
            <a:ext cx="2331720" cy="329184"/>
          </a:xfrm>
          <a:prstGeom prst="rect">
            <a:avLst/>
          </a:prstGeom>
          <a:solidFill>
            <a:srgbClr val="016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1143000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② UMAP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1499616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384D  →  10D  (clustering)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1746504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384D  →    2D  (visu)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2936" y="1993391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2240279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metric = cosine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936" y="248716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n_neighbors =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2936" y="2734056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min_dist = 0.0 /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788920"/>
            <a:ext cx="2221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Préserve la structure non linéaire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76088" y="2926080"/>
            <a:ext cx="1234440" cy="256032"/>
          </a:xfrm>
          <a:prstGeom prst="rect">
            <a:avLst/>
          </a:prstGeom>
          <a:solidFill>
            <a:srgbClr val="016D76"/>
          </a:solidFill>
          <a:ln>
            <a:solidFill>
              <a:srgbClr val="01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76088" y="294436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(9 246 × 10D)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24927" y="1435608"/>
            <a:ext cx="310897" cy="0"/>
          </a:xfrm>
          <a:prstGeom prst="line">
            <a:avLst/>
          </a:prstGeom>
          <a:ln w="25400">
            <a:solidFill>
              <a:srgbClr val="016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799831" y="1152144"/>
            <a:ext cx="2331720" cy="1965960"/>
          </a:xfrm>
          <a:prstGeom prst="rect">
            <a:avLst/>
          </a:prstGeom>
          <a:solidFill>
            <a:srgbClr val="CC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63256" y="1115568"/>
            <a:ext cx="2331720" cy="1965960"/>
          </a:xfrm>
          <a:prstGeom prst="rect">
            <a:avLst/>
          </a:prstGeom>
          <a:solidFill>
            <a:srgbClr val="FEF3E2"/>
          </a:solidFill>
          <a:ln w="15240">
            <a:solidFill>
              <a:srgbClr val="EC8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63256" y="1115568"/>
            <a:ext cx="2331720" cy="329184"/>
          </a:xfrm>
          <a:prstGeom prst="rect">
            <a:avLst/>
          </a:prstGeom>
          <a:solidFill>
            <a:srgbClr val="EC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6408" y="1143000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③ HDBSCAN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72983" y="1499616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K trouvé automatiquement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72983" y="1746504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metric = euclidean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2983" y="1993391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min_cluster_size = 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72983" y="2240279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min_samples =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2983" y="248716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72983" y="2734056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→ label −1 = bruit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36408" y="2788920"/>
            <a:ext cx="2221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eom (Excess of Mass)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6136" y="2926080"/>
            <a:ext cx="1234440" cy="256032"/>
          </a:xfrm>
          <a:prstGeom prst="rect">
            <a:avLst/>
          </a:prstGeom>
          <a:solidFill>
            <a:srgbClr val="EC8927"/>
          </a:solidFill>
          <a:ln>
            <a:solidFill>
              <a:srgbClr val="EC8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46136" y="294436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labels clusters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94976" y="1435608"/>
            <a:ext cx="310896" cy="0"/>
          </a:xfrm>
          <a:prstGeom prst="line">
            <a:avLst/>
          </a:prstGeom>
          <a:ln w="25400">
            <a:solidFill>
              <a:srgbClr val="016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0469880" y="1152144"/>
            <a:ext cx="1572768" cy="1965960"/>
          </a:xfrm>
          <a:prstGeom prst="rect">
            <a:avLst/>
          </a:prstGeom>
          <a:solidFill>
            <a:srgbClr val="CC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33304" y="1115568"/>
            <a:ext cx="1572768" cy="1965960"/>
          </a:xfrm>
          <a:prstGeom prst="rect">
            <a:avLst/>
          </a:prstGeom>
          <a:solidFill>
            <a:srgbClr val="E6F4F5"/>
          </a:solidFill>
          <a:ln w="15240">
            <a:solidFill>
              <a:srgbClr val="01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433304" y="1115568"/>
            <a:ext cx="1572768" cy="329184"/>
          </a:xfrm>
          <a:prstGeom prst="rect">
            <a:avLst/>
          </a:prstGeom>
          <a:solidFill>
            <a:srgbClr val="016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06456" y="114300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④ TF-IDF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43032" y="149961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Mots spécifiques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43032" y="174650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par cluster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3032" y="1993391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43032" y="2240279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ngram (1,2)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3032" y="248716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top 3 → label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6456" y="27889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Labels lisibles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592" y="3273552"/>
            <a:ext cx="11859768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4592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3730752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1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4592" y="3730752"/>
            <a:ext cx="3566160" cy="292608"/>
          </a:xfrm>
          <a:prstGeom prst="rect">
            <a:avLst/>
          </a:prstGeom>
          <a:solidFill>
            <a:srgbClr val="016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" y="37490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clusters.json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" y="40690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42 clusters
id · label · keywords · nb · cx · cy · cnu_dist
→ Bulles interactives du dashboard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05072" y="3730752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1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05072" y="3730752"/>
            <a:ext cx="4023360" cy="292608"/>
          </a:xfrm>
          <a:prstGeom prst="rect">
            <a:avLst/>
          </a:prstGeom>
          <a:solidFill>
            <a:srgbClr val="016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96512" y="374903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data_clustered.json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96512" y="40690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9 246 thèses
données + cluster_id · cluster_label · x · y
→ Position UMAP 2D de chaque thèse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02752" y="3730752"/>
            <a:ext cx="37216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8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02752" y="3730752"/>
            <a:ext cx="3721608" cy="292608"/>
          </a:xfrm>
          <a:prstGeom prst="rect">
            <a:avLst/>
          </a:prstGeom>
          <a:solidFill>
            <a:srgbClr val="EC8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94192" y="3749039"/>
            <a:ext cx="3538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Visualisation dashboard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94192" y="4069080"/>
            <a:ext cx="35387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Scatter UMAP 2D → chaque thèse = 1 point
Bulles cliquables par thématique
Filtre CNU · établissement · année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4592" y="5321808"/>
            <a:ext cx="11859768" cy="256032"/>
          </a:xfrm>
          <a:prstGeom prst="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534009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Référence : BERTopic — Grootendorst (2022) · arXiv:2203.05794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64922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MAIEUTiC · Analyse textuelle des thèses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